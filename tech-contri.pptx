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D12D-E24E-42B7-989C-006F672CA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4BA0F-2BDD-4245-B28B-890FBFCE3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41F07-279F-45BC-90BE-DDA74E4B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B0D72-E126-44DE-91F6-4A6DA289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DADDC-5374-46CB-B776-9ACEB684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082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9E77-7409-4376-987E-2E25BD29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4C690-E79C-47D6-B2DC-74F410C8B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E99EB-8B2E-4691-9471-FDF27C20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4C9D9-660F-452B-85C3-538C3AC3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CFD1E-848D-4A10-9487-EC54D420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228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3855-6147-4D84-B281-1BDE0444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3F0CC-E0F0-4279-9297-6E651A5E2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96127-5DC3-4F4E-9EAB-50AECE6E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EA860-6F7A-4E91-81E7-3A2C392A7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1254C-1F5D-40EF-A54E-85E6DC3E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0750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52CF-489C-424A-9AF5-76FD18E2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BDA35-4C66-4B3D-B9D8-A474C32B8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2411B-95A0-451B-B171-38E011274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2187F-727A-49B7-9D61-AD4C22E2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FD2CE-6E8E-43D8-8A22-C7201FCD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8FBB4-C137-4015-A0F2-DDC8AEB7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510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90CA-0FBC-4AF4-A4F0-E220D068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089A3-EDA3-49CD-AAC8-A26F7B3B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8C681-284A-4677-AB0D-CF3A17CAB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21A9C-36F8-4F8E-A973-25F31DD91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DF0-1C29-40AB-B341-44AF6A23F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D2963-7213-4985-B508-751D31FBF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23D563-98AF-4CDF-9833-7D559FCB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57B25-A88E-47A0-8ECA-3C07604E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93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DFBE-780F-4503-BD44-B6233EBE8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E7D565-39E7-4C09-BC1C-DA84E675E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3B83E4-C731-4AB8-8878-01D78DF19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CE0DD-4EB3-4C5F-A8BC-02C4A09B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0496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E2DA4-88F1-456F-8217-3FFE9B65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D69739-B15C-4756-885A-2174E2B3C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A5C35-47D7-4CBB-A535-DC3F9817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142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46C3-4531-4977-9DE5-70541E5B6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AC1DE-313B-4E55-8DB7-4ABD31CB2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C6C3A-1D5C-4D9E-A37E-87F57CA37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BA939-BDE4-490C-90E1-0A7EC14E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05BF7-3A87-4E8E-94AD-B283A7D1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84878-CCDC-4C92-B156-7D0B7975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338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3159-A536-45CB-97DA-6170F2D15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2B087-DB56-4F0F-87FA-FD81E37C1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69295-E3D0-48A4-8B62-FED3522F1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08971-C0ED-4F8D-9E56-76BE22A7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51BF6-5379-474A-9299-FF54883D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18B18-8619-499F-A1D5-A915FE27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3752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6CAA5-8C2C-4647-B398-B632DC2C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DF603-4ED0-4633-9C24-116907EB1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ADF13-DACB-4BA3-B111-EB92F19C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11BD6-8039-4A29-8F44-D199F327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5A471-F8DD-4D3A-84AD-1DADDF4B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351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9712F-A617-41D3-A30E-8F946C783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9D25A-0925-4BA9-9866-05D7BD525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94AB4-088F-4BA1-9AC9-B78A3A94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5B64A-6B54-441C-8BA8-2A701DEC2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9AA83-27B6-4163-9DB9-838B86B4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430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CDDF7-3446-4A44-A2EB-DC6CAA4C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56C19-E0BA-47C3-8B1C-B25A9FF92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354D6-5EED-4B31-8D59-5BD078B24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3BA58-A49F-496C-888D-8DA7FD42059C}" type="datetimeFigureOut">
              <a:rPr lang="en-SG" smtClean="0"/>
              <a:t>23/12/2025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E663F-AEF5-4565-AA6D-53AAA2673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78467-0D2F-433C-9E95-FD3D8C1A5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B1503-0483-4897-95ED-DDCB407AEE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925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D5CBEE-493A-486D-9CFB-1B9563F89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34" y="238197"/>
            <a:ext cx="9474666" cy="826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7E889D-877C-4258-9B40-16D4CA8B0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34" y="1064267"/>
            <a:ext cx="9474666" cy="9037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768DE8-F8BC-42C3-8F5B-A261DEC11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734" y="1967983"/>
            <a:ext cx="9474666" cy="797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72DC88-4D42-4DD7-8D24-228336421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734" y="2765926"/>
            <a:ext cx="9474666" cy="10766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E3947F-D6E6-44D7-8807-36FBE92CF5F4}"/>
              </a:ext>
            </a:extLst>
          </p:cNvPr>
          <p:cNvSpPr txBox="1"/>
          <p:nvPr/>
        </p:nvSpPr>
        <p:spPr>
          <a:xfrm>
            <a:off x="333375" y="3978753"/>
            <a:ext cx="48153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/>
              <a:t>Profile required: </a:t>
            </a:r>
          </a:p>
          <a:p>
            <a:r>
              <a:rPr lang="en-SG" sz="1200" dirty="0"/>
              <a:t>Herd Behavior, </a:t>
            </a:r>
          </a:p>
          <a:p>
            <a:r>
              <a:rPr lang="en-SG" sz="1200" dirty="0"/>
              <a:t>Risk-Aversion, </a:t>
            </a:r>
          </a:p>
          <a:p>
            <a:r>
              <a:rPr lang="en-SG" sz="1200" dirty="0"/>
              <a:t>Profit Driven – a value on how much they buy based on big market change</a:t>
            </a:r>
          </a:p>
          <a:p>
            <a:r>
              <a:rPr lang="en-SG" sz="1200" dirty="0"/>
              <a:t>(Generate from past behavior) – given volatility, etc.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F333A9-9EA2-468E-8851-F1DFD306D1D5}"/>
              </a:ext>
            </a:extLst>
          </p:cNvPr>
          <p:cNvSpPr txBox="1"/>
          <p:nvPr/>
        </p:nvSpPr>
        <p:spPr>
          <a:xfrm>
            <a:off x="202734" y="5484854"/>
            <a:ext cx="44231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Market is going down a lot</a:t>
            </a:r>
          </a:p>
          <a:p>
            <a:r>
              <a:rPr lang="en-SG" sz="1200" dirty="0"/>
              <a:t>Risk adverse – pf weight change will be big</a:t>
            </a:r>
          </a:p>
          <a:p>
            <a:r>
              <a:rPr lang="en-SG" sz="1200" dirty="0"/>
              <a:t>Volatility</a:t>
            </a:r>
          </a:p>
          <a:p>
            <a:endParaRPr lang="en-SG" sz="1200" dirty="0"/>
          </a:p>
          <a:p>
            <a:r>
              <a:rPr lang="en-SG" sz="1200" dirty="0"/>
              <a:t>Follow herd -&gt; pf weight change will be big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A65F0F-62B3-4905-8329-0D9704F6E270}"/>
              </a:ext>
            </a:extLst>
          </p:cNvPr>
          <p:cNvSpPr txBox="1"/>
          <p:nvPr/>
        </p:nvSpPr>
        <p:spPr>
          <a:xfrm>
            <a:off x="6619875" y="4092075"/>
            <a:ext cx="5048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AAPL -&gt; past 5 days, price movement is big (volatility high), downwards</a:t>
            </a:r>
          </a:p>
          <a:p>
            <a:endParaRPr lang="en-SG" sz="1200" dirty="0"/>
          </a:p>
          <a:p>
            <a:r>
              <a:rPr lang="en-SG" sz="1200" dirty="0"/>
              <a:t>Here, we want to ensure, that the pf weight change is high, in neg direction</a:t>
            </a:r>
          </a:p>
          <a:p>
            <a:endParaRPr lang="en-SG" sz="1200" dirty="0"/>
          </a:p>
          <a:p>
            <a:r>
              <a:rPr lang="en-SG" sz="1200" dirty="0"/>
              <a:t>Conditioned on some value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717209-7477-4C6F-BC3C-5D0114D063B2}"/>
              </a:ext>
            </a:extLst>
          </p:cNvPr>
          <p:cNvSpPr txBox="1"/>
          <p:nvPr/>
        </p:nvSpPr>
        <p:spPr>
          <a:xfrm>
            <a:off x="6619875" y="5966684"/>
            <a:ext cx="4714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AAPL -&gt; past 5 days, price movement is big (volatility high), upwards</a:t>
            </a:r>
          </a:p>
          <a:p>
            <a:endParaRPr lang="en-SG" sz="1200" dirty="0"/>
          </a:p>
          <a:p>
            <a:r>
              <a:rPr lang="en-SG" sz="1200" dirty="0"/>
              <a:t>Here, we want to ensure, that the pf weight change is high</a:t>
            </a:r>
          </a:p>
          <a:p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96802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C54F66-2593-41ED-999B-F68A9A7A4FD6}"/>
              </a:ext>
            </a:extLst>
          </p:cNvPr>
          <p:cNvSpPr/>
          <p:nvPr/>
        </p:nvSpPr>
        <p:spPr>
          <a:xfrm>
            <a:off x="4497692" y="3436112"/>
            <a:ext cx="1961101" cy="8412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SFT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96382-09E3-4000-9F98-A2285D371715}"/>
              </a:ext>
            </a:extLst>
          </p:cNvPr>
          <p:cNvSpPr/>
          <p:nvPr/>
        </p:nvSpPr>
        <p:spPr>
          <a:xfrm>
            <a:off x="4497692" y="5197493"/>
            <a:ext cx="1961101" cy="8412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GRPO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66C713-F49C-4AB6-BDDE-D496FE7288D8}"/>
              </a:ext>
            </a:extLst>
          </p:cNvPr>
          <p:cNvCxnSpPr>
            <a:cxnSpLocks/>
          </p:cNvCxnSpPr>
          <p:nvPr/>
        </p:nvCxnSpPr>
        <p:spPr>
          <a:xfrm>
            <a:off x="2491740" y="4177902"/>
            <a:ext cx="163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05A9DC-73A3-4E61-B5CF-4141770737EC}"/>
              </a:ext>
            </a:extLst>
          </p:cNvPr>
          <p:cNvSpPr txBox="1"/>
          <p:nvPr/>
        </p:nvSpPr>
        <p:spPr>
          <a:xfrm>
            <a:off x="456981" y="3717964"/>
            <a:ext cx="2873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Input: </a:t>
            </a:r>
            <a:r>
              <a:rPr lang="en-SG" dirty="0"/>
              <a:t>Market data</a:t>
            </a:r>
          </a:p>
          <a:p>
            <a:r>
              <a:rPr lang="en-SG" dirty="0"/>
              <a:t>Manager Type: Bank</a:t>
            </a:r>
          </a:p>
          <a:p>
            <a:r>
              <a:rPr lang="en-SG" strike="sngStrike" dirty="0"/>
              <a:t>Manager no.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B64DF9-CA01-47F9-BF6D-17F3C8AD7404}"/>
              </a:ext>
            </a:extLst>
          </p:cNvPr>
          <p:cNvSpPr/>
          <p:nvPr/>
        </p:nvSpPr>
        <p:spPr>
          <a:xfrm>
            <a:off x="4484357" y="1936044"/>
            <a:ext cx="1961101" cy="8412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LLM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3C08C0-94EB-4320-8075-CB0A299CE36D}"/>
              </a:ext>
            </a:extLst>
          </p:cNvPr>
          <p:cNvCxnSpPr/>
          <p:nvPr/>
        </p:nvCxnSpPr>
        <p:spPr>
          <a:xfrm>
            <a:off x="2613660" y="2489298"/>
            <a:ext cx="1287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69741D-D8A2-4EB8-BFEC-642308CB8944}"/>
              </a:ext>
            </a:extLst>
          </p:cNvPr>
          <p:cNvSpPr txBox="1"/>
          <p:nvPr/>
        </p:nvSpPr>
        <p:spPr>
          <a:xfrm>
            <a:off x="456981" y="1967328"/>
            <a:ext cx="2873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Input: </a:t>
            </a:r>
            <a:r>
              <a:rPr lang="en-SG" dirty="0"/>
              <a:t>Market data</a:t>
            </a:r>
          </a:p>
          <a:p>
            <a:r>
              <a:rPr lang="en-SG" dirty="0"/>
              <a:t>Holdings</a:t>
            </a:r>
          </a:p>
          <a:p>
            <a:r>
              <a:rPr lang="en-SG" dirty="0"/>
              <a:t>Profile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FE6965-252B-4DB1-B305-CB86F5805EE9}"/>
              </a:ext>
            </a:extLst>
          </p:cNvPr>
          <p:cNvCxnSpPr/>
          <p:nvPr/>
        </p:nvCxnSpPr>
        <p:spPr>
          <a:xfrm>
            <a:off x="6842761" y="2345231"/>
            <a:ext cx="18897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2571B0E-1F27-4962-B071-E33F7270B228}"/>
              </a:ext>
            </a:extLst>
          </p:cNvPr>
          <p:cNvSpPr txBox="1"/>
          <p:nvPr/>
        </p:nvSpPr>
        <p:spPr>
          <a:xfrm>
            <a:off x="8896132" y="2160565"/>
            <a:ext cx="287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Output: </a:t>
            </a:r>
            <a:r>
              <a:rPr lang="en-SG" dirty="0"/>
              <a:t>Reasoning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C5399-8A0E-41C9-A455-2643449CD2B5}"/>
              </a:ext>
            </a:extLst>
          </p:cNvPr>
          <p:cNvSpPr txBox="1"/>
          <p:nvPr/>
        </p:nvSpPr>
        <p:spPr>
          <a:xfrm>
            <a:off x="456981" y="847308"/>
            <a:ext cx="2873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Input: </a:t>
            </a:r>
            <a:r>
              <a:rPr lang="en-SG" dirty="0">
                <a:solidFill>
                  <a:schemeClr val="accent2"/>
                </a:solidFill>
              </a:rPr>
              <a:t>Algo-generated numerical profile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F6FC43-D8A4-4E47-9B19-3122749881B5}"/>
              </a:ext>
            </a:extLst>
          </p:cNvPr>
          <p:cNvSpPr/>
          <p:nvPr/>
        </p:nvSpPr>
        <p:spPr>
          <a:xfrm>
            <a:off x="4457061" y="695890"/>
            <a:ext cx="1961101" cy="8412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LLM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C7591B-8A73-4C9A-A49C-129BE2C26873}"/>
              </a:ext>
            </a:extLst>
          </p:cNvPr>
          <p:cNvCxnSpPr/>
          <p:nvPr/>
        </p:nvCxnSpPr>
        <p:spPr>
          <a:xfrm>
            <a:off x="2686266" y="1075788"/>
            <a:ext cx="1287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82DDC9-984F-4CFF-8A94-07A995AA9D27}"/>
              </a:ext>
            </a:extLst>
          </p:cNvPr>
          <p:cNvCxnSpPr/>
          <p:nvPr/>
        </p:nvCxnSpPr>
        <p:spPr>
          <a:xfrm>
            <a:off x="6915367" y="1151987"/>
            <a:ext cx="18897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38ED6A1-9652-4C4B-9293-8DCCB0480425}"/>
              </a:ext>
            </a:extLst>
          </p:cNvPr>
          <p:cNvSpPr txBox="1"/>
          <p:nvPr/>
        </p:nvSpPr>
        <p:spPr>
          <a:xfrm>
            <a:off x="8862279" y="931843"/>
            <a:ext cx="2873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Output: </a:t>
            </a:r>
            <a:r>
              <a:rPr lang="en-SG" dirty="0"/>
              <a:t>Profile (Meta-Reasoning)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22F4C2-0316-4C63-9AF5-27487A85A379}"/>
              </a:ext>
            </a:extLst>
          </p:cNvPr>
          <p:cNvCxnSpPr>
            <a:cxnSpLocks/>
          </p:cNvCxnSpPr>
          <p:nvPr/>
        </p:nvCxnSpPr>
        <p:spPr>
          <a:xfrm>
            <a:off x="2430780" y="5692081"/>
            <a:ext cx="163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74C292-BE5A-4D19-9EE6-B5B212A15250}"/>
              </a:ext>
            </a:extLst>
          </p:cNvPr>
          <p:cNvSpPr txBox="1"/>
          <p:nvPr/>
        </p:nvSpPr>
        <p:spPr>
          <a:xfrm>
            <a:off x="456981" y="5468600"/>
            <a:ext cx="287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Input: </a:t>
            </a:r>
            <a:r>
              <a:rPr lang="en-SG" dirty="0"/>
              <a:t>Market data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54CE4A-DD25-4722-82DE-5C0954F3141C}"/>
              </a:ext>
            </a:extLst>
          </p:cNvPr>
          <p:cNvCxnSpPr>
            <a:cxnSpLocks/>
          </p:cNvCxnSpPr>
          <p:nvPr/>
        </p:nvCxnSpPr>
        <p:spPr>
          <a:xfrm>
            <a:off x="7094220" y="3880067"/>
            <a:ext cx="163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437F9E2-7CAE-4C4C-8A6E-3E87D10AC09F}"/>
              </a:ext>
            </a:extLst>
          </p:cNvPr>
          <p:cNvSpPr txBox="1"/>
          <p:nvPr/>
        </p:nvSpPr>
        <p:spPr>
          <a:xfrm>
            <a:off x="8896132" y="3155039"/>
            <a:ext cx="2873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Output: </a:t>
            </a:r>
          </a:p>
          <a:p>
            <a:r>
              <a:rPr lang="en-SG" dirty="0"/>
              <a:t>Profile</a:t>
            </a:r>
          </a:p>
          <a:p>
            <a:r>
              <a:rPr lang="en-SG" dirty="0"/>
              <a:t>Reasoning, </a:t>
            </a:r>
          </a:p>
          <a:p>
            <a:r>
              <a:rPr lang="en-SG" dirty="0"/>
              <a:t>Holdings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44F946C-33A2-486A-827E-0D60705D3932}"/>
              </a:ext>
            </a:extLst>
          </p:cNvPr>
          <p:cNvCxnSpPr>
            <a:cxnSpLocks/>
          </p:cNvCxnSpPr>
          <p:nvPr/>
        </p:nvCxnSpPr>
        <p:spPr>
          <a:xfrm>
            <a:off x="7094220" y="5618735"/>
            <a:ext cx="163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6D9FC5-A81A-4071-9DB9-8705B92E2CFB}"/>
              </a:ext>
            </a:extLst>
          </p:cNvPr>
          <p:cNvSpPr txBox="1"/>
          <p:nvPr/>
        </p:nvSpPr>
        <p:spPr>
          <a:xfrm>
            <a:off x="8985450" y="4838401"/>
            <a:ext cx="2873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Forecast: </a:t>
            </a:r>
          </a:p>
          <a:p>
            <a:r>
              <a:rPr lang="en-SG" dirty="0"/>
              <a:t>Profile</a:t>
            </a:r>
          </a:p>
          <a:p>
            <a:r>
              <a:rPr lang="en-SG" dirty="0"/>
              <a:t>Reasoning, </a:t>
            </a:r>
          </a:p>
          <a:p>
            <a:r>
              <a:rPr lang="en-SG" dirty="0"/>
              <a:t>Holdings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920C9-6177-41A7-A044-E2EEFC29CA27}"/>
              </a:ext>
            </a:extLst>
          </p:cNvPr>
          <p:cNvSpPr txBox="1"/>
          <p:nvPr/>
        </p:nvSpPr>
        <p:spPr>
          <a:xfrm>
            <a:off x="796505" y="5837932"/>
            <a:ext cx="62295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chemeClr val="accent2"/>
                </a:solidFill>
              </a:rPr>
              <a:t>Reward = </a:t>
            </a:r>
          </a:p>
          <a:p>
            <a:r>
              <a:rPr lang="en-SG" sz="1400" dirty="0" err="1">
                <a:solidFill>
                  <a:schemeClr val="accent2"/>
                </a:solidFill>
              </a:rPr>
              <a:t>Formating</a:t>
            </a:r>
            <a:endParaRPr lang="en-SG" sz="1400" dirty="0">
              <a:solidFill>
                <a:schemeClr val="accent2"/>
              </a:solidFill>
            </a:endParaRPr>
          </a:p>
          <a:p>
            <a:r>
              <a:rPr lang="en-SG" sz="1400" dirty="0">
                <a:solidFill>
                  <a:schemeClr val="accent2"/>
                </a:solidFill>
              </a:rPr>
              <a:t>Accuracy -&gt; holdings </a:t>
            </a:r>
          </a:p>
          <a:p>
            <a:r>
              <a:rPr lang="en-SG" sz="1400" dirty="0">
                <a:solidFill>
                  <a:schemeClr val="accent2"/>
                </a:solidFill>
              </a:rPr>
              <a:t>– Distance from Profiles … (inside reward function to control pf weight change)</a:t>
            </a:r>
            <a:endParaRPr lang="en-SG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8F1214-E5C8-45D3-93E1-A90FACCFD55A}"/>
              </a:ext>
            </a:extLst>
          </p:cNvPr>
          <p:cNvSpPr txBox="1"/>
          <p:nvPr/>
        </p:nvSpPr>
        <p:spPr>
          <a:xfrm>
            <a:off x="796505" y="4525006"/>
            <a:ext cx="1230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trike="sngStrike" dirty="0">
                <a:solidFill>
                  <a:schemeClr val="accent2"/>
                </a:solidFill>
              </a:rPr>
              <a:t>Clustering</a:t>
            </a:r>
            <a:endParaRPr lang="en-SG" strike="sngStrik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473733-1EC3-4556-81D3-338D13D0358A}"/>
              </a:ext>
            </a:extLst>
          </p:cNvPr>
          <p:cNvSpPr txBox="1"/>
          <p:nvPr/>
        </p:nvSpPr>
        <p:spPr>
          <a:xfrm>
            <a:off x="0" y="25720"/>
            <a:ext cx="839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(Risk Aversion = f(Volatility)) – e.g., risk adverse, they don’t want to buy when vol is high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4C94DD-604A-4783-94E0-68585704ABEB}"/>
              </a:ext>
            </a:extLst>
          </p:cNvPr>
          <p:cNvSpPr txBox="1"/>
          <p:nvPr/>
        </p:nvSpPr>
        <p:spPr>
          <a:xfrm>
            <a:off x="7439025" y="6134523"/>
            <a:ext cx="441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chemeClr val="accent2"/>
                </a:solidFill>
              </a:rPr>
              <a:t>Predicted holdings (</a:t>
            </a:r>
            <a:r>
              <a:rPr lang="en-SG" sz="1400" dirty="0" err="1">
                <a:solidFill>
                  <a:schemeClr val="accent2"/>
                </a:solidFill>
              </a:rPr>
              <a:t>wt</a:t>
            </a:r>
            <a:r>
              <a:rPr lang="en-SG" sz="1400" dirty="0">
                <a:solidFill>
                  <a:schemeClr val="accent2"/>
                </a:solidFill>
              </a:rPr>
              <a:t> change) / Input price volatility</a:t>
            </a:r>
          </a:p>
          <a:p>
            <a:r>
              <a:rPr lang="en-SG" sz="1400" dirty="0">
                <a:solidFill>
                  <a:schemeClr val="accent2"/>
                </a:solidFill>
              </a:rPr>
              <a:t>Predicted holdings (</a:t>
            </a:r>
            <a:r>
              <a:rPr lang="en-SG" sz="1400" dirty="0" err="1">
                <a:solidFill>
                  <a:schemeClr val="accent2"/>
                </a:solidFill>
              </a:rPr>
              <a:t>wt</a:t>
            </a:r>
            <a:r>
              <a:rPr lang="en-SG" sz="1400" dirty="0">
                <a:solidFill>
                  <a:schemeClr val="accent2"/>
                </a:solidFill>
              </a:rPr>
              <a:t> change) / Input volume</a:t>
            </a:r>
            <a:endParaRPr lang="en-SG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9A8B74-762A-489D-BAE8-7DD8090AAEA6}"/>
              </a:ext>
            </a:extLst>
          </p:cNvPr>
          <p:cNvSpPr txBox="1"/>
          <p:nvPr/>
        </p:nvSpPr>
        <p:spPr>
          <a:xfrm>
            <a:off x="10509709" y="3878675"/>
            <a:ext cx="1423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accent2"/>
                </a:solidFill>
              </a:rPr>
              <a:t>Delta weight </a:t>
            </a:r>
          </a:p>
          <a:p>
            <a:r>
              <a:rPr lang="en-SG" dirty="0">
                <a:solidFill>
                  <a:schemeClr val="accent2"/>
                </a:solidFill>
              </a:rPr>
              <a:t>Tends to zero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B54CDE-11D2-4A79-8D04-843275A14C6C}"/>
              </a:ext>
            </a:extLst>
          </p:cNvPr>
          <p:cNvSpPr txBox="1"/>
          <p:nvPr/>
        </p:nvSpPr>
        <p:spPr>
          <a:xfrm>
            <a:off x="10063112" y="5339704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accent2"/>
                </a:solidFill>
              </a:rPr>
              <a:t>&lt;think&gt;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065FFE-0FAD-4D13-A66A-CEF5043FBC15}"/>
              </a:ext>
            </a:extLst>
          </p:cNvPr>
          <p:cNvSpPr txBox="1"/>
          <p:nvPr/>
        </p:nvSpPr>
        <p:spPr>
          <a:xfrm>
            <a:off x="10031697" y="5069233"/>
            <a:ext cx="1027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trike="sngStrike" dirty="0">
                <a:solidFill>
                  <a:schemeClr val="accent2"/>
                </a:solidFill>
              </a:rPr>
              <a:t>&lt;profile&gt;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94DC00-5D7C-49BA-A1E3-CBE051EB028C}"/>
              </a:ext>
            </a:extLst>
          </p:cNvPr>
          <p:cNvSpPr txBox="1"/>
          <p:nvPr/>
        </p:nvSpPr>
        <p:spPr>
          <a:xfrm>
            <a:off x="7913370" y="2806047"/>
            <a:ext cx="3191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accent6"/>
                </a:solidFill>
              </a:rPr>
              <a:t>Profile input or output from </a:t>
            </a:r>
            <a:r>
              <a:rPr lang="en-SG" dirty="0" err="1">
                <a:solidFill>
                  <a:schemeClr val="accent6"/>
                </a:solidFill>
              </a:rPr>
              <a:t>sft</a:t>
            </a:r>
            <a:r>
              <a:rPr lang="en-SG" dirty="0">
                <a:solidFill>
                  <a:schemeClr val="accent6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4323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59DC71-E409-4180-94C3-05CB5B054E5D}"/>
              </a:ext>
            </a:extLst>
          </p:cNvPr>
          <p:cNvSpPr txBox="1"/>
          <p:nvPr/>
        </p:nvSpPr>
        <p:spPr>
          <a:xfrm>
            <a:off x="0" y="371475"/>
            <a:ext cx="404309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effectLst/>
                <a:latin typeface="Segoe UI" panose="020B0502040204020203" pitchFamily="34" charset="0"/>
              </a:rPr>
              <a:t>{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"</a:t>
            </a:r>
            <a:r>
              <a:rPr lang="en-SG" dirty="0" err="1">
                <a:effectLst/>
                <a:latin typeface="Segoe UI" panose="020B0502040204020203" pitchFamily="34" charset="0"/>
              </a:rPr>
              <a:t>profile_id</a:t>
            </a:r>
            <a:r>
              <a:rPr lang="en-SG" dirty="0">
                <a:effectLst/>
                <a:latin typeface="Segoe UI" panose="020B0502040204020203" pitchFamily="34" charset="0"/>
              </a:rPr>
              <a:t>": "banks_p0",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"philosophy": {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"style": "aggressive",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"activity": "</a:t>
            </a:r>
            <a:r>
              <a:rPr lang="en-SG" dirty="0" err="1">
                <a:effectLst/>
                <a:latin typeface="Segoe UI" panose="020B0502040204020203" pitchFamily="34" charset="0"/>
              </a:rPr>
              <a:t>medium_turnover</a:t>
            </a:r>
            <a:r>
              <a:rPr lang="en-SG" dirty="0">
                <a:effectLst/>
                <a:latin typeface="Segoe UI" panose="020B0502040204020203" pitchFamily="34" charset="0"/>
              </a:rPr>
              <a:t>",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</a:t>
            </a:r>
            <a:r>
              <a:rPr lang="en-SG" dirty="0" err="1">
                <a:effectLst/>
                <a:latin typeface="Segoe UI" panose="020B0502040204020203" pitchFamily="34" charset="0"/>
              </a:rPr>
              <a:t>benchmark_orientation</a:t>
            </a:r>
            <a:r>
              <a:rPr lang="en-SG" dirty="0">
                <a:effectLst/>
                <a:latin typeface="Segoe UI" panose="020B0502040204020203" pitchFamily="34" charset="0"/>
              </a:rPr>
              <a:t>": "low",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"horizon": "tactical"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},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"constraints": {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</a:t>
            </a:r>
            <a:r>
              <a:rPr lang="en-SG" dirty="0" err="1">
                <a:effectLst/>
                <a:latin typeface="Segoe UI" panose="020B0502040204020203" pitchFamily="34" charset="0"/>
              </a:rPr>
              <a:t>turnover_constraint</a:t>
            </a:r>
            <a:r>
              <a:rPr lang="en-SG" dirty="0">
                <a:effectLst/>
                <a:latin typeface="Segoe UI" panose="020B0502040204020203" pitchFamily="34" charset="0"/>
              </a:rPr>
              <a:t>": "medium",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</a:t>
            </a:r>
            <a:r>
              <a:rPr lang="en-SG" dirty="0" err="1">
                <a:effectLst/>
                <a:latin typeface="Segoe UI" panose="020B0502040204020203" pitchFamily="34" charset="0"/>
              </a:rPr>
              <a:t>concentration_constraint</a:t>
            </a:r>
            <a:r>
              <a:rPr lang="en-SG" dirty="0">
                <a:effectLst/>
                <a:latin typeface="Segoe UI" panose="020B0502040204020203" pitchFamily="34" charset="0"/>
              </a:rPr>
              <a:t>": "high",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</a:t>
            </a:r>
            <a:r>
              <a:rPr lang="en-SG" dirty="0" err="1">
                <a:effectLst/>
                <a:latin typeface="Segoe UI" panose="020B0502040204020203" pitchFamily="34" charset="0"/>
              </a:rPr>
              <a:t>risk_tolerance</a:t>
            </a:r>
            <a:r>
              <a:rPr lang="en-SG" dirty="0">
                <a:effectLst/>
                <a:latin typeface="Segoe UI" panose="020B0502040204020203" pitchFamily="34" charset="0"/>
              </a:rPr>
              <a:t>": "high"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},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"</a:t>
            </a:r>
            <a:r>
              <a:rPr lang="en-SG" dirty="0" err="1">
                <a:effectLst/>
                <a:latin typeface="Segoe UI" panose="020B0502040204020203" pitchFamily="34" charset="0"/>
              </a:rPr>
              <a:t>objective_weights</a:t>
            </a:r>
            <a:r>
              <a:rPr lang="en-SG" dirty="0">
                <a:effectLst/>
                <a:latin typeface="Segoe UI" panose="020B0502040204020203" pitchFamily="34" charset="0"/>
              </a:rPr>
              <a:t>": {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"alpha": 0.6606,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"risk": 0.3198,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"</a:t>
            </a:r>
            <a:r>
              <a:rPr lang="en-SG" dirty="0" err="1">
                <a:effectLst/>
                <a:latin typeface="Segoe UI" panose="020B0502040204020203" pitchFamily="34" charset="0"/>
              </a:rPr>
              <a:t>tc</a:t>
            </a:r>
            <a:r>
              <a:rPr lang="en-SG" dirty="0">
                <a:effectLst/>
                <a:latin typeface="Segoe UI" panose="020B0502040204020203" pitchFamily="34" charset="0"/>
              </a:rPr>
              <a:t>": 0.0196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}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},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ADD1BD-C389-4DA5-B8B5-DE819063A68B}"/>
              </a:ext>
            </a:extLst>
          </p:cNvPr>
          <p:cNvSpPr txBox="1"/>
          <p:nvPr/>
        </p:nvSpPr>
        <p:spPr>
          <a:xfrm>
            <a:off x="4695825" y="371475"/>
            <a:ext cx="622196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effectLst/>
                <a:latin typeface="Segoe UI" panose="020B0502040204020203" pitchFamily="34" charset="0"/>
              </a:rPr>
              <a:t>{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"</a:t>
            </a:r>
            <a:r>
              <a:rPr lang="en-SG" dirty="0" err="1">
                <a:effectLst/>
                <a:latin typeface="Segoe UI" panose="020B0502040204020203" pitchFamily="34" charset="0"/>
              </a:rPr>
              <a:t>profile_id</a:t>
            </a:r>
            <a:r>
              <a:rPr lang="en-SG" dirty="0">
                <a:effectLst/>
                <a:latin typeface="Segoe UI" panose="020B0502040204020203" pitchFamily="34" charset="0"/>
              </a:rPr>
              <a:t>": "banks</a:t>
            </a:r>
            <a:r>
              <a:rPr lang="en-SG" strike="sngStrike" dirty="0">
                <a:effectLst/>
                <a:latin typeface="Segoe UI" panose="020B0502040204020203" pitchFamily="34" charset="0"/>
              </a:rPr>
              <a:t>_p0</a:t>
            </a:r>
            <a:r>
              <a:rPr lang="en-SG" dirty="0">
                <a:effectLst/>
                <a:latin typeface="Segoe UI" panose="020B0502040204020203" pitchFamily="34" charset="0"/>
              </a:rPr>
              <a:t>",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"philosophy": {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      "style": "aggressive",</a:t>
            </a:r>
            <a:b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</a:b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      "activity": "</a:t>
            </a:r>
            <a:r>
              <a:rPr lang="en-SG" dirty="0" err="1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medium_turnover</a:t>
            </a: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",</a:t>
            </a:r>
            <a:b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</a:b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      "</a:t>
            </a:r>
            <a:r>
              <a:rPr lang="en-SG" dirty="0" err="1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benchmark_orientation</a:t>
            </a: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": "low",</a:t>
            </a:r>
            <a:b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</a:b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      "horizon": "tactical"</a:t>
            </a:r>
            <a:b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</a:b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    },</a:t>
            </a:r>
            <a:b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</a:b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    "constraints": {</a:t>
            </a:r>
            <a:b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</a:b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      "</a:t>
            </a:r>
            <a:r>
              <a:rPr lang="en-SG" dirty="0" err="1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turnover_constraint</a:t>
            </a: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": "medium",</a:t>
            </a:r>
            <a:b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</a:b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      "</a:t>
            </a:r>
            <a:r>
              <a:rPr lang="en-SG" dirty="0" err="1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concentration_constraint</a:t>
            </a: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": "high",</a:t>
            </a:r>
            <a:b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</a:b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      "</a:t>
            </a:r>
            <a:r>
              <a:rPr lang="en-SG" dirty="0" err="1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risk_tolerance</a:t>
            </a:r>
            <a:r>
              <a:rPr lang="en-SG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": "high"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},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"</a:t>
            </a:r>
            <a:r>
              <a:rPr lang="en-SG" dirty="0" err="1">
                <a:effectLst/>
                <a:latin typeface="Segoe UI" panose="020B0502040204020203" pitchFamily="34" charset="0"/>
              </a:rPr>
              <a:t>objective_weights</a:t>
            </a:r>
            <a:r>
              <a:rPr lang="en-SG" dirty="0">
                <a:effectLst/>
                <a:latin typeface="Segoe UI" panose="020B0502040204020203" pitchFamily="34" charset="0"/>
              </a:rPr>
              <a:t>": {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  “risk aversion” – delta </a:t>
            </a:r>
            <a:r>
              <a:rPr lang="en-SG" dirty="0"/>
              <a:t>weight / volatility (all stocks all time)</a:t>
            </a:r>
          </a:p>
          <a:p>
            <a:r>
              <a:rPr lang="en-SG" dirty="0"/>
              <a:t>        “herd behavior” – delta weight / observed volume all stocks</a:t>
            </a:r>
          </a:p>
          <a:p>
            <a:r>
              <a:rPr lang="en-SG" dirty="0"/>
              <a:t>        “profit driven” – delta weight / profit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  }</a:t>
            </a:r>
            <a:br>
              <a:rPr lang="en-SG" dirty="0">
                <a:effectLst/>
                <a:latin typeface="Segoe UI" panose="020B0502040204020203" pitchFamily="34" charset="0"/>
              </a:rPr>
            </a:br>
            <a:r>
              <a:rPr lang="en-SG" dirty="0">
                <a:effectLst/>
                <a:latin typeface="Segoe UI" panose="020B0502040204020203" pitchFamily="34" charset="0"/>
              </a:rPr>
              <a:t>  },</a:t>
            </a:r>
          </a:p>
          <a:p>
            <a:endParaRPr lang="en-SG" dirty="0">
              <a:latin typeface="Segoe UI" panose="020B0502040204020203" pitchFamily="34" charset="0"/>
            </a:endParaRPr>
          </a:p>
          <a:p>
            <a:endParaRPr lang="en-SG" dirty="0">
              <a:latin typeface="Segoe UI" panose="020B0502040204020203" pitchFamily="34" charset="0"/>
            </a:endParaRPr>
          </a:p>
          <a:p>
            <a:r>
              <a:rPr lang="en-SG" dirty="0">
                <a:latin typeface="Segoe UI" panose="020B0502040204020203" pitchFamily="34" charset="0"/>
              </a:rPr>
              <a:t>Yahoo finance -&gt; OHLC Volume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65566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682</Words>
  <Application>Microsoft Office PowerPoint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Kelvin</dc:creator>
  <cp:lastModifiedBy>Kelvin</cp:lastModifiedBy>
  <cp:revision>6</cp:revision>
  <dcterms:created xsi:type="dcterms:W3CDTF">2025-12-23T12:00:31Z</dcterms:created>
  <dcterms:modified xsi:type="dcterms:W3CDTF">2025-12-23T12:49:42Z</dcterms:modified>
</cp:coreProperties>
</file>